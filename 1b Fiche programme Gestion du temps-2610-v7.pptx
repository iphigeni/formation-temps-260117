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19A0D-D7B1-49D2-ABBC-5667776C83A3}" v="1" dt="2026-10-07T06:50:04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 autoAdjust="0"/>
  </p:normalViewPr>
  <p:slideViewPr>
    <p:cSldViewPr snapToGrid="0" snapToObjects="1">
      <p:cViewPr>
        <p:scale>
          <a:sx n="99" d="100"/>
          <a:sy n="99" d="100"/>
        </p:scale>
        <p:origin x="36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-François ITEL" userId="bb80a743-d194-43be-8a74-72790ca7070d" providerId="ADAL" clId="{D7F67992-ED55-4CF7-A6CC-BB4326047705}"/>
    <pc:docChg chg="custSel modSld">
      <pc:chgData name="Pierre-François ITEL" userId="bb80a743-d194-43be-8a74-72790ca7070d" providerId="ADAL" clId="{D7F67992-ED55-4CF7-A6CC-BB4326047705}" dt="2026-10-07T07:03:12.349" v="30" actId="20577"/>
      <pc:docMkLst>
        <pc:docMk/>
      </pc:docMkLst>
      <pc:sldChg chg="modSp mod">
        <pc:chgData name="Pierre-François ITEL" userId="bb80a743-d194-43be-8a74-72790ca7070d" providerId="ADAL" clId="{D7F67992-ED55-4CF7-A6CC-BB4326047705}" dt="2026-10-07T07:03:12.349" v="30" actId="20577"/>
        <pc:sldMkLst>
          <pc:docMk/>
          <pc:sldMk cId="0" sldId="256"/>
        </pc:sldMkLst>
        <pc:spChg chg="mod">
          <ac:chgData name="Pierre-François ITEL" userId="bb80a743-d194-43be-8a74-72790ca7070d" providerId="ADAL" clId="{D7F67992-ED55-4CF7-A6CC-BB4326047705}" dt="2026-10-07T07:00:36.910" v="25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36" v="1" actId="276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7:03:12.349" v="30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53" v="5" actId="276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46" v="3" actId="2763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51" v="4" actId="2763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55" v="6" actId="2763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57" v="7" actId="27636"/>
          <ac:spMkLst>
            <pc:docMk/>
            <pc:sldMk cId="0" sldId="256"/>
            <ac:spMk id="53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60" v="8" actId="2763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41" v="2" actId="2763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21.052" v="23" actId="20577"/>
          <ac:spMkLst>
            <pc:docMk/>
            <pc:sldMk cId="0" sldId="256"/>
            <ac:spMk id="66" creationId="{00000000-0000-0000-0000-000000000000}"/>
          </ac:spMkLst>
        </pc:spChg>
      </pc:sldChg>
      <pc:sldChg chg="modSp mod">
        <pc:chgData name="Pierre-François ITEL" userId="bb80a743-d194-43be-8a74-72790ca7070d" providerId="ADAL" clId="{D7F67992-ED55-4CF7-A6CC-BB4326047705}" dt="2026-10-07T07:02:01.109" v="28" actId="20577"/>
        <pc:sldMkLst>
          <pc:docMk/>
          <pc:sldMk cId="0" sldId="257"/>
        </pc:sldMkLst>
        <pc:spChg chg="mod">
          <ac:chgData name="Pierre-François ITEL" userId="bb80a743-d194-43be-8a74-72790ca7070d" providerId="ADAL" clId="{D7F67992-ED55-4CF7-A6CC-BB4326047705}" dt="2026-10-07T07:02:01.109" v="2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98" v="11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94" v="10" actId="276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692" v="9" actId="2763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703" v="13" actId="2763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Pierre-François ITEL" userId="bb80a743-d194-43be-8a74-72790ca7070d" providerId="ADAL" clId="{D7F67992-ED55-4CF7-A6CC-BB4326047705}" dt="2026-10-07T06:50:04.700" v="12" actId="27636"/>
          <ac:spMkLst>
            <pc:docMk/>
            <pc:sldMk cId="0" sldId="257"/>
            <ac:spMk id="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25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Page 1 - Gestion du temps et des priorités, parcours à distance en 4 temps (J-7 à J+30) pour MJPM.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r-FR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Page 2 - Gestion du temps et des priorités, 5 compétences visées + accompagnement post-formation J+1 à J+30.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r-FR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phigeni.fr/form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715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571500"/>
            <a:ext cx="35198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125" b="1" kern="0" spc="113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DU TEMPS ET DES PRIORITÉS</a:t>
            </a:r>
            <a:endParaRPr lang="fr-FR" sz="1125" dirty="0"/>
          </a:p>
        </p:txBody>
      </p:sp>
      <p:sp>
        <p:nvSpPr>
          <p:cNvPr id="5" name="Shape 2"/>
          <p:cNvSpPr/>
          <p:nvPr/>
        </p:nvSpPr>
        <p:spPr>
          <a:xfrm>
            <a:off x="5409679" y="571500"/>
            <a:ext cx="9525" cy="171450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571604" y="571500"/>
            <a:ext cx="214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125" b="1" kern="0" spc="113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DE FORMATION</a:t>
            </a:r>
            <a:endParaRPr lang="fr-FR" sz="1125" dirty="0"/>
          </a:p>
        </p:txBody>
      </p:sp>
      <p:sp>
        <p:nvSpPr>
          <p:cNvPr id="7" name="Text 4"/>
          <p:cNvSpPr/>
          <p:nvPr/>
        </p:nvSpPr>
        <p:spPr>
          <a:xfrm>
            <a:off x="2057400" y="857250"/>
            <a:ext cx="10249451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794"/>
              </a:lnSpc>
              <a:buNone/>
            </a:pPr>
            <a:r>
              <a:rPr lang="fr-FR" sz="390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Reprendre la main sur son organisation</a:t>
            </a:r>
            <a:endParaRPr lang="fr-FR" sz="3900" dirty="0"/>
          </a:p>
        </p:txBody>
      </p:sp>
      <p:sp>
        <p:nvSpPr>
          <p:cNvPr id="8" name="Text 5"/>
          <p:cNvSpPr/>
          <p:nvPr/>
        </p:nvSpPr>
        <p:spPr>
          <a:xfrm>
            <a:off x="2057400" y="1497285"/>
            <a:ext cx="804481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13"/>
              </a:lnSpc>
              <a:buNone/>
            </a:pPr>
            <a:r>
              <a:rPr lang="fr-FR" sz="14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journée pour reconstruire son système d'organisation, puis un accompagnement léger pour qu'il tienne dans la vraie vie.</a:t>
            </a:r>
            <a:endParaRPr lang="fr-FR" sz="1425" dirty="0"/>
          </a:p>
        </p:txBody>
      </p:sp>
      <p:sp>
        <p:nvSpPr>
          <p:cNvPr id="9" name="Text 6"/>
          <p:cNvSpPr/>
          <p:nvPr/>
        </p:nvSpPr>
        <p:spPr>
          <a:xfrm>
            <a:off x="2057400" y="2154510"/>
            <a:ext cx="102494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fr-FR" sz="13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MJPM1-IPHI-2610-v7 · Mis à jour le 7 octobre 2026</a:t>
            </a:r>
            <a:endParaRPr lang="fr-FR" sz="1350" dirty="0"/>
          </a:p>
        </p:txBody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623" y="628650"/>
            <a:ext cx="1672977" cy="514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514798" y="1238250"/>
            <a:ext cx="28588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fr-FR" sz="1125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conseil, formation &amp; accompagnement</a:t>
            </a:r>
            <a:endParaRPr lang="fr-FR" sz="1125" dirty="0"/>
          </a:p>
        </p:txBody>
      </p:sp>
      <p:sp>
        <p:nvSpPr>
          <p:cNvPr id="12" name="Shape 8"/>
          <p:cNvSpPr/>
          <p:nvPr/>
        </p:nvSpPr>
        <p:spPr>
          <a:xfrm>
            <a:off x="914400" y="2668860"/>
            <a:ext cx="1965424" cy="347663"/>
          </a:xfrm>
          <a:prstGeom prst="roundRect">
            <a:avLst>
              <a:gd name="adj" fmla="val 50000"/>
            </a:avLst>
          </a:prstGeom>
          <a:solidFill>
            <a:srgbClr val="0E2844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104900" y="2745060"/>
            <a:ext cx="166062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fr-FR" sz="1275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Modalité : Distanciel</a:t>
            </a:r>
            <a:endParaRPr lang="fr-FR" sz="1275" dirty="0"/>
          </a:p>
        </p:txBody>
      </p:sp>
      <p:sp>
        <p:nvSpPr>
          <p:cNvPr id="14" name="Shape 10"/>
          <p:cNvSpPr/>
          <p:nvPr/>
        </p:nvSpPr>
        <p:spPr>
          <a:xfrm>
            <a:off x="3032224" y="2668860"/>
            <a:ext cx="4617720" cy="347663"/>
          </a:xfrm>
          <a:prstGeom prst="roundRect">
            <a:avLst>
              <a:gd name="adj" fmla="val 50000"/>
            </a:avLst>
          </a:prstGeom>
          <a:solidFill>
            <a:srgbClr val="EF7308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222724" y="2745060"/>
            <a:ext cx="438912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fr-FR" sz="1275" b="1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 h de formation-action · coaching collectif 3 h à J+30</a:t>
            </a:r>
            <a:endParaRPr lang="fr-FR" sz="1275" dirty="0"/>
          </a:p>
        </p:txBody>
      </p:sp>
      <p:sp>
        <p:nvSpPr>
          <p:cNvPr id="16" name="Shape 12"/>
          <p:cNvSpPr/>
          <p:nvPr/>
        </p:nvSpPr>
        <p:spPr>
          <a:xfrm>
            <a:off x="914400" y="3207023"/>
            <a:ext cx="8789491" cy="1170432"/>
          </a:xfrm>
          <a:prstGeom prst="roundRect">
            <a:avLst>
              <a:gd name="adj" fmla="val 11355"/>
            </a:avLst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1133475" y="3387998"/>
            <a:ext cx="918647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DU PARCOURS</a:t>
            </a:r>
            <a:endParaRPr lang="fr-FR" sz="1050" dirty="0"/>
          </a:p>
        </p:txBody>
      </p:sp>
      <p:sp>
        <p:nvSpPr>
          <p:cNvPr id="18" name="Text 14"/>
          <p:cNvSpPr/>
          <p:nvPr/>
        </p:nvSpPr>
        <p:spPr>
          <a:xfrm>
            <a:off x="1115568" y="3668985"/>
            <a:ext cx="19202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fr-FR" sz="1125" b="1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J-15</a:t>
            </a:r>
            <a:endParaRPr lang="fr-FR" sz="1125" dirty="0"/>
          </a:p>
        </p:txBody>
      </p:sp>
      <p:sp>
        <p:nvSpPr>
          <p:cNvPr id="19" name="Text 15"/>
          <p:cNvSpPr/>
          <p:nvPr/>
        </p:nvSpPr>
        <p:spPr>
          <a:xfrm>
            <a:off x="1152144" y="3878535"/>
            <a:ext cx="18470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individuel ~15 min</a:t>
            </a:r>
            <a:endParaRPr lang="fr-FR" sz="1050" dirty="0"/>
          </a:p>
        </p:txBody>
      </p:sp>
      <p:sp>
        <p:nvSpPr>
          <p:cNvPr id="20" name="Shape 16"/>
          <p:cNvSpPr/>
          <p:nvPr/>
        </p:nvSpPr>
        <p:spPr>
          <a:xfrm>
            <a:off x="3026664" y="3754710"/>
            <a:ext cx="228600" cy="19050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3246120" y="3668985"/>
            <a:ext cx="19202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fr-FR" sz="1125" b="1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J0</a:t>
            </a:r>
            <a:endParaRPr lang="fr-FR" sz="1125" dirty="0"/>
          </a:p>
        </p:txBody>
      </p:sp>
      <p:sp>
        <p:nvSpPr>
          <p:cNvPr id="22" name="Text 18"/>
          <p:cNvSpPr/>
          <p:nvPr/>
        </p:nvSpPr>
        <p:spPr>
          <a:xfrm>
            <a:off x="3282696" y="3878535"/>
            <a:ext cx="18470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collective à distance 7 h</a:t>
            </a:r>
            <a:endParaRPr lang="fr-FR" sz="1050" dirty="0"/>
          </a:p>
        </p:txBody>
      </p:sp>
      <p:sp>
        <p:nvSpPr>
          <p:cNvPr id="23" name="Shape 19"/>
          <p:cNvSpPr/>
          <p:nvPr/>
        </p:nvSpPr>
        <p:spPr>
          <a:xfrm>
            <a:off x="5157216" y="3754710"/>
            <a:ext cx="228600" cy="19050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5376672" y="3668985"/>
            <a:ext cx="19202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fr-FR" sz="1125" b="1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J+1 à J+21</a:t>
            </a:r>
            <a:endParaRPr lang="fr-FR" sz="1125" dirty="0"/>
          </a:p>
        </p:txBody>
      </p:sp>
      <p:sp>
        <p:nvSpPr>
          <p:cNvPr id="25" name="Text 21"/>
          <p:cNvSpPr/>
          <p:nvPr/>
        </p:nvSpPr>
        <p:spPr>
          <a:xfrm>
            <a:off x="5413248" y="3878535"/>
            <a:ext cx="18470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Expérimentation en situation de travail</a:t>
            </a:r>
            <a:endParaRPr lang="fr-FR" sz="1050" dirty="0"/>
          </a:p>
        </p:txBody>
      </p:sp>
      <p:sp>
        <p:nvSpPr>
          <p:cNvPr id="26" name="Shape 22"/>
          <p:cNvSpPr/>
          <p:nvPr/>
        </p:nvSpPr>
        <p:spPr>
          <a:xfrm>
            <a:off x="7287768" y="3754710"/>
            <a:ext cx="228600" cy="19050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7507224" y="3668985"/>
            <a:ext cx="19202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fr-FR" sz="1125" b="1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J+30</a:t>
            </a:r>
            <a:endParaRPr lang="fr-FR" sz="1125" dirty="0"/>
          </a:p>
        </p:txBody>
      </p:sp>
      <p:sp>
        <p:nvSpPr>
          <p:cNvPr id="28" name="Text 24"/>
          <p:cNvSpPr/>
          <p:nvPr/>
        </p:nvSpPr>
        <p:spPr>
          <a:xfrm>
            <a:off x="7543800" y="3878535"/>
            <a:ext cx="18470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collectif à distance 3 h</a:t>
            </a:r>
            <a:endParaRPr lang="fr-FR" sz="1050" dirty="0"/>
          </a:p>
        </p:txBody>
      </p:sp>
      <p:sp>
        <p:nvSpPr>
          <p:cNvPr id="32" name="Text 28"/>
          <p:cNvSpPr/>
          <p:nvPr/>
        </p:nvSpPr>
        <p:spPr>
          <a:xfrm>
            <a:off x="914400" y="4507992"/>
            <a:ext cx="96684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VISÉ</a:t>
            </a:r>
            <a:endParaRPr lang="fr-FR" sz="1050" dirty="0"/>
          </a:p>
        </p:txBody>
      </p:sp>
      <p:sp>
        <p:nvSpPr>
          <p:cNvPr id="33" name="Text 29"/>
          <p:cNvSpPr/>
          <p:nvPr/>
        </p:nvSpPr>
        <p:spPr>
          <a:xfrm>
            <a:off x="914400" y="4736592"/>
            <a:ext cx="905317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fr-FR" sz="12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Mandataires Judiciaires à la Protection des Majeurs (MJPM) : professionnels expérimentés cherchant à reconstruire un système d'organisation, non à découvrir des outils de gestion du temps.</a:t>
            </a:r>
            <a:endParaRPr lang="fr-FR" sz="1275" dirty="0"/>
          </a:p>
        </p:txBody>
      </p:sp>
      <p:sp>
        <p:nvSpPr>
          <p:cNvPr id="34" name="Text 30"/>
          <p:cNvSpPr/>
          <p:nvPr/>
        </p:nvSpPr>
        <p:spPr>
          <a:xfrm>
            <a:off x="914400" y="5312664"/>
            <a:ext cx="96684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PRÉREQUIS</a:t>
            </a:r>
            <a:endParaRPr lang="fr-FR" sz="1050" dirty="0"/>
          </a:p>
        </p:txBody>
      </p:sp>
      <p:sp>
        <p:nvSpPr>
          <p:cNvPr id="35" name="Text 31"/>
          <p:cNvSpPr/>
          <p:nvPr/>
        </p:nvSpPr>
        <p:spPr>
          <a:xfrm>
            <a:off x="914400" y="5541264"/>
            <a:ext cx="9668441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fr-FR" sz="1275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</a:t>
            </a:r>
            <a:endParaRPr lang="fr-FR" sz="1275" dirty="0"/>
          </a:p>
        </p:txBody>
      </p:sp>
      <p:sp>
        <p:nvSpPr>
          <p:cNvPr id="36" name="Text 32"/>
          <p:cNvSpPr/>
          <p:nvPr/>
        </p:nvSpPr>
        <p:spPr>
          <a:xfrm>
            <a:off x="914400" y="5897879"/>
            <a:ext cx="96684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OBJECTIFS DE LA FORMATION</a:t>
            </a:r>
            <a:endParaRPr lang="fr-FR" sz="1050" dirty="0"/>
          </a:p>
        </p:txBody>
      </p:sp>
      <p:sp>
        <p:nvSpPr>
          <p:cNvPr id="37" name="Text 33"/>
          <p:cNvSpPr/>
          <p:nvPr/>
        </p:nvSpPr>
        <p:spPr>
          <a:xfrm>
            <a:off x="914400" y="6126479"/>
            <a:ext cx="96684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l'issue de la formation, les participants seront capables de :</a:t>
            </a:r>
            <a:endParaRPr lang="fr-FR" sz="1050" dirty="0"/>
          </a:p>
        </p:txBody>
      </p:sp>
      <p:sp>
        <p:nvSpPr>
          <p:cNvPr id="38" name="Text 34"/>
          <p:cNvSpPr/>
          <p:nvPr/>
        </p:nvSpPr>
        <p:spPr>
          <a:xfrm>
            <a:off x="1017270" y="6355079"/>
            <a:ext cx="8762821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06680" indent="-106680" algn="l">
              <a:lnSpc>
                <a:spcPct val="123077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Organiser leur activité pour réduire la dispersion et mieux maîtriser leurs flux de travail.</a:t>
            </a:r>
            <a:endParaRPr lang="fr-FR" sz="1200" dirty="0"/>
          </a:p>
          <a:p>
            <a:pPr marL="106680" indent="-106680" algn="l">
              <a:lnSpc>
                <a:spcPct val="123077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Hiérarchiser et arbitrer leurs priorités afin d'anticiper les situations susceptibles de devenir critiques.</a:t>
            </a:r>
            <a:endParaRPr lang="fr-FR" sz="1200" dirty="0"/>
          </a:p>
          <a:p>
            <a:pPr marL="106680" indent="-106680" algn="l">
              <a:lnSpc>
                <a:spcPct val="123077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Réguler les sollicitations et organiser le traitement des demandes, avec leurs collaborateurs le cas échéant.</a:t>
            </a:r>
            <a:endParaRPr lang="fr-FR" sz="1200" dirty="0"/>
          </a:p>
        </p:txBody>
      </p:sp>
      <p:sp>
        <p:nvSpPr>
          <p:cNvPr id="39" name="Text 35"/>
          <p:cNvSpPr/>
          <p:nvPr/>
        </p:nvSpPr>
        <p:spPr>
          <a:xfrm>
            <a:off x="914400" y="7159751"/>
            <a:ext cx="5532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MODALITÉS PÉDAGOGIQUES</a:t>
            </a:r>
            <a:endParaRPr lang="fr-FR" sz="1050" dirty="0"/>
          </a:p>
        </p:txBody>
      </p:sp>
      <p:sp>
        <p:nvSpPr>
          <p:cNvPr id="40" name="Text 36"/>
          <p:cNvSpPr/>
          <p:nvPr/>
        </p:nvSpPr>
        <p:spPr>
          <a:xfrm>
            <a:off x="914400" y="7388351"/>
            <a:ext cx="5532120" cy="115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Formation-action à distance alternant situations issues de l'activité des MJPM, apports ciblés, mises en situation, productions individuelles, échanges entre pairs et temps d'ancrage.</a:t>
            </a:r>
            <a:endParaRPr lang="fr-FR" sz="1125" dirty="0"/>
          </a:p>
          <a:p>
            <a:pPr marL="0" indent="0" algn="l">
              <a:lnSpc>
                <a:spcPct val="125000"/>
              </a:lnSpc>
              <a:buNone/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participants appliquent les méthodes à leur propre organisation afin de préparer leur expérimentation en situation de travail.</a:t>
            </a:r>
            <a:endParaRPr lang="fr-FR" sz="1125" dirty="0"/>
          </a:p>
        </p:txBody>
      </p:sp>
      <p:sp>
        <p:nvSpPr>
          <p:cNvPr id="41" name="Text 37"/>
          <p:cNvSpPr/>
          <p:nvPr/>
        </p:nvSpPr>
        <p:spPr>
          <a:xfrm>
            <a:off x="6675120" y="7159751"/>
            <a:ext cx="30175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MOYENS PÉDAGOGIQUES</a:t>
            </a:r>
            <a:endParaRPr lang="fr-FR" sz="1050" dirty="0"/>
          </a:p>
        </p:txBody>
      </p:sp>
      <p:sp>
        <p:nvSpPr>
          <p:cNvPr id="42" name="Text 38"/>
          <p:cNvSpPr/>
          <p:nvPr/>
        </p:nvSpPr>
        <p:spPr>
          <a:xfrm>
            <a:off x="6675120" y="7388351"/>
            <a:ext cx="3017520" cy="93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amont, classe virtuelle, supports Word/PDF accessibles, canevas de production, cas, lot de mails et situations simulées.</a:t>
            </a:r>
            <a:endParaRPr lang="fr-FR" sz="1125" dirty="0"/>
          </a:p>
        </p:txBody>
      </p:sp>
      <p:sp>
        <p:nvSpPr>
          <p:cNvPr id="43" name="Shape 39"/>
          <p:cNvSpPr/>
          <p:nvPr/>
        </p:nvSpPr>
        <p:spPr>
          <a:xfrm>
            <a:off x="10227766" y="2668860"/>
            <a:ext cx="7145834" cy="2062163"/>
          </a:xfrm>
          <a:prstGeom prst="roundRect">
            <a:avLst>
              <a:gd name="adj" fmla="val 8314"/>
            </a:avLst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blurRad="38100" dist="9525" dir="5400000" algn="bl" rotWithShape="0">
              <a:srgbClr val="0E2844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40"/>
          <p:cNvSpPr/>
          <p:nvPr/>
        </p:nvSpPr>
        <p:spPr>
          <a:xfrm>
            <a:off x="10484941" y="2906985"/>
            <a:ext cx="22917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DURÉE</a:t>
            </a:r>
            <a:endParaRPr lang="fr-FR" sz="1050" dirty="0"/>
          </a:p>
        </p:txBody>
      </p:sp>
      <p:sp>
        <p:nvSpPr>
          <p:cNvPr id="45" name="Text 41"/>
          <p:cNvSpPr/>
          <p:nvPr/>
        </p:nvSpPr>
        <p:spPr>
          <a:xfrm>
            <a:off x="10484941" y="3130823"/>
            <a:ext cx="22917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425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h + accompagnement</a:t>
            </a:r>
            <a:endParaRPr lang="fr-FR" sz="1425" dirty="0"/>
          </a:p>
        </p:txBody>
      </p:sp>
      <p:sp>
        <p:nvSpPr>
          <p:cNvPr id="46" name="Text 42"/>
          <p:cNvSpPr/>
          <p:nvPr/>
        </p:nvSpPr>
        <p:spPr>
          <a:xfrm>
            <a:off x="10484941" y="3349898"/>
            <a:ext cx="2291789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09h00–12h00 · 13h30–17h30</a:t>
            </a:r>
            <a:endParaRPr lang="fr-FR" sz="1050" dirty="0"/>
          </a:p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déjeuner 12h00–13h30</a:t>
            </a:r>
            <a:endParaRPr lang="fr-FR" sz="1050" dirty="0"/>
          </a:p>
        </p:txBody>
      </p:sp>
      <p:sp>
        <p:nvSpPr>
          <p:cNvPr id="47" name="Text 43"/>
          <p:cNvSpPr/>
          <p:nvPr/>
        </p:nvSpPr>
        <p:spPr>
          <a:xfrm>
            <a:off x="12758886" y="2906985"/>
            <a:ext cx="229187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EFFECTIF</a:t>
            </a:r>
            <a:endParaRPr lang="fr-FR" sz="1050" dirty="0"/>
          </a:p>
        </p:txBody>
      </p:sp>
      <p:sp>
        <p:nvSpPr>
          <p:cNvPr id="48" name="Text 44"/>
          <p:cNvSpPr/>
          <p:nvPr/>
        </p:nvSpPr>
        <p:spPr>
          <a:xfrm>
            <a:off x="12758886" y="3130823"/>
            <a:ext cx="22918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425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personnes maximum</a:t>
            </a:r>
            <a:endParaRPr lang="fr-FR" sz="1425" dirty="0"/>
          </a:p>
        </p:txBody>
      </p:sp>
      <p:sp>
        <p:nvSpPr>
          <p:cNvPr id="49" name="Text 45"/>
          <p:cNvSpPr/>
          <p:nvPr/>
        </p:nvSpPr>
        <p:spPr>
          <a:xfrm>
            <a:off x="15032906" y="2906985"/>
            <a:ext cx="22917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</a:t>
            </a:r>
            <a:endParaRPr lang="fr-FR" sz="1050" dirty="0"/>
          </a:p>
        </p:txBody>
      </p:sp>
      <p:sp>
        <p:nvSpPr>
          <p:cNvPr id="50" name="Text 46"/>
          <p:cNvSpPr/>
          <p:nvPr/>
        </p:nvSpPr>
        <p:spPr>
          <a:xfrm>
            <a:off x="15032906" y="3130823"/>
            <a:ext cx="229178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275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: 800 € / personne</a:t>
            </a:r>
            <a:endParaRPr lang="fr-FR" sz="1275" dirty="0"/>
          </a:p>
        </p:txBody>
      </p:sp>
      <p:sp>
        <p:nvSpPr>
          <p:cNvPr id="51" name="Text 47"/>
          <p:cNvSpPr/>
          <p:nvPr/>
        </p:nvSpPr>
        <p:spPr>
          <a:xfrm>
            <a:off x="15032906" y="3346704"/>
            <a:ext cx="23317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INTRA : 1 400 € / groupe,</a:t>
            </a:r>
          </a:p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jusqu'à 10 personnes maximum</a:t>
            </a:r>
          </a:p>
        </p:txBody>
      </p:sp>
      <p:sp>
        <p:nvSpPr>
          <p:cNvPr id="52" name="Shape 48"/>
          <p:cNvSpPr/>
          <p:nvPr/>
        </p:nvSpPr>
        <p:spPr>
          <a:xfrm>
            <a:off x="10484941" y="3822191"/>
            <a:ext cx="6631409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9"/>
          <p:cNvSpPr/>
          <p:nvPr/>
        </p:nvSpPr>
        <p:spPr>
          <a:xfrm>
            <a:off x="10484941" y="3950208"/>
            <a:ext cx="7294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fr-FR" sz="1050" dirty="0"/>
          </a:p>
        </p:txBody>
      </p:sp>
      <p:sp>
        <p:nvSpPr>
          <p:cNvPr id="54" name="Text 50"/>
          <p:cNvSpPr/>
          <p:nvPr/>
        </p:nvSpPr>
        <p:spPr>
          <a:xfrm>
            <a:off x="10484941" y="4160520"/>
            <a:ext cx="72945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4390"/>
              </a:lnSpc>
              <a:buNone/>
            </a:pPr>
            <a:r>
              <a:rPr lang="fr-FR" sz="1275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: 14 janvier · 5 avril · 2 septembre · 22 novembre 2027</a:t>
            </a:r>
            <a:endParaRPr lang="fr-FR" sz="1275" dirty="0"/>
          </a:p>
        </p:txBody>
      </p:sp>
      <p:sp>
        <p:nvSpPr>
          <p:cNvPr id="55" name="Text 51"/>
          <p:cNvSpPr/>
          <p:nvPr/>
        </p:nvSpPr>
        <p:spPr>
          <a:xfrm>
            <a:off x="10484941" y="4425696"/>
            <a:ext cx="72945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INTRA : dates à définir selon vos souhaits</a:t>
            </a:r>
            <a:endParaRPr lang="fr-FR" sz="1050" dirty="0"/>
          </a:p>
        </p:txBody>
      </p:sp>
      <p:sp>
        <p:nvSpPr>
          <p:cNvPr id="56" name="Shape 52"/>
          <p:cNvSpPr/>
          <p:nvPr/>
        </p:nvSpPr>
        <p:spPr>
          <a:xfrm>
            <a:off x="10227766" y="4902473"/>
            <a:ext cx="7145834" cy="1180058"/>
          </a:xfrm>
          <a:prstGeom prst="roundRect">
            <a:avLst>
              <a:gd name="adj" fmla="val 14529"/>
            </a:avLst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blurRad="38100" dist="9525" dir="5400000" algn="bl" rotWithShape="0">
              <a:srgbClr val="0E2844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Text 53"/>
          <p:cNvSpPr/>
          <p:nvPr/>
        </p:nvSpPr>
        <p:spPr>
          <a:xfrm>
            <a:off x="10484941" y="5121548"/>
            <a:ext cx="729463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LIEU DE FORMATION</a:t>
            </a:r>
            <a:endParaRPr lang="fr-FR" sz="1050" dirty="0"/>
          </a:p>
        </p:txBody>
      </p:sp>
      <p:sp>
        <p:nvSpPr>
          <p:cNvPr id="58" name="Text 54"/>
          <p:cNvSpPr/>
          <p:nvPr/>
        </p:nvSpPr>
        <p:spPr>
          <a:xfrm>
            <a:off x="10484941" y="5345385"/>
            <a:ext cx="6830428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2683"/>
              </a:lnSpc>
              <a:buNone/>
            </a:pPr>
            <a:r>
              <a:rPr lang="fr-FR" sz="1275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Distanciel</a:t>
            </a:r>
            <a:r>
              <a:rPr lang="fr-FR" sz="12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classe virtuelle unique pour la journée J0 et le coaching collectif J+30 (Microsoft Teams).</a:t>
            </a:r>
            <a:endParaRPr lang="fr-FR" sz="1275" dirty="0"/>
          </a:p>
        </p:txBody>
      </p:sp>
      <p:sp>
        <p:nvSpPr>
          <p:cNvPr id="59" name="Shape 55"/>
          <p:cNvSpPr/>
          <p:nvPr/>
        </p:nvSpPr>
        <p:spPr>
          <a:xfrm>
            <a:off x="10227766" y="6253981"/>
            <a:ext cx="7145834" cy="2092003"/>
          </a:xfrm>
          <a:prstGeom prst="roundRect">
            <a:avLst>
              <a:gd name="adj" fmla="val 8195"/>
            </a:avLst>
          </a:prstGeom>
          <a:solidFill>
            <a:srgbClr val="0E28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6"/>
          <p:cNvSpPr/>
          <p:nvPr/>
        </p:nvSpPr>
        <p:spPr>
          <a:xfrm>
            <a:off x="10475416" y="6482581"/>
            <a:ext cx="731558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78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INTERVENANT</a:t>
            </a:r>
            <a:endParaRPr lang="fr-FR" sz="1050" dirty="0"/>
          </a:p>
        </p:txBody>
      </p:sp>
      <p:sp>
        <p:nvSpPr>
          <p:cNvPr id="61" name="Text 57"/>
          <p:cNvSpPr/>
          <p:nvPr/>
        </p:nvSpPr>
        <p:spPr>
          <a:xfrm>
            <a:off x="10475416" y="6706419"/>
            <a:ext cx="7315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Pierre-François Itel</a:t>
            </a:r>
            <a:endParaRPr lang="fr-FR" sz="1425" dirty="0"/>
          </a:p>
        </p:txBody>
      </p:sp>
      <p:sp>
        <p:nvSpPr>
          <p:cNvPr id="62" name="Text 58"/>
          <p:cNvSpPr/>
          <p:nvPr/>
        </p:nvSpPr>
        <p:spPr>
          <a:xfrm>
            <a:off x="10475416" y="6925493"/>
            <a:ext cx="6707353" cy="1270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1282"/>
              </a:lnSpc>
              <a:buNone/>
            </a:pPr>
            <a:r>
              <a:rPr lang="fr-FR" sz="12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Pierre-François ITEL, consultant, formateur et coach, spécialisé en management et gestion de projet. </a:t>
            </a:r>
          </a:p>
          <a:p>
            <a:pPr marL="0" indent="0" algn="just">
              <a:lnSpc>
                <a:spcPct val="131282"/>
              </a:lnSpc>
              <a:buNone/>
            </a:pPr>
            <a:r>
              <a:rPr lang="fr-FR" sz="12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Formé au métier de Mandataire Judiciaire à la Protection des Majeurs en 2007, il accompagne des MJPM</a:t>
            </a:r>
          </a:p>
          <a:p>
            <a:pPr marL="0" indent="0" algn="just">
              <a:lnSpc>
                <a:spcPct val="131282"/>
              </a:lnSpc>
              <a:buNone/>
            </a:pPr>
            <a:r>
              <a:rPr lang="fr-FR" sz="12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indépendants dans leurs projets d'organisation, dans l'appropriation du logiciel Proxima, en accompagnement individuel ou en codéveloppement.</a:t>
            </a:r>
            <a:endParaRPr lang="fr-FR" sz="1200" dirty="0"/>
          </a:p>
        </p:txBody>
      </p:sp>
      <p:sp>
        <p:nvSpPr>
          <p:cNvPr id="64" name="Shape 60"/>
          <p:cNvSpPr/>
          <p:nvPr/>
        </p:nvSpPr>
        <p:spPr>
          <a:xfrm>
            <a:off x="914400" y="8633436"/>
            <a:ext cx="16459200" cy="1256226"/>
          </a:xfrm>
          <a:prstGeom prst="roundRect">
            <a:avLst>
              <a:gd name="adj" fmla="val 11310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1"/>
          <p:cNvSpPr/>
          <p:nvPr/>
        </p:nvSpPr>
        <p:spPr>
          <a:xfrm>
            <a:off x="1162050" y="8761452"/>
            <a:ext cx="175602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ÉVALUATION &amp; SUIVI</a:t>
            </a:r>
            <a:endParaRPr lang="fr-FR" sz="1050" dirty="0"/>
          </a:p>
        </p:txBody>
      </p:sp>
      <p:sp>
        <p:nvSpPr>
          <p:cNvPr id="66" name="Text 62"/>
          <p:cNvSpPr/>
          <p:nvPr/>
        </p:nvSpPr>
        <p:spPr>
          <a:xfrm>
            <a:off x="1161288" y="9017484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fr-FR" sz="10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Positionnement : </a:t>
            </a: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amont de la </a:t>
            </a:r>
            <a:r>
              <a:rPr lang="fr-FR" sz="105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(</a:t>
            </a:r>
            <a:r>
              <a:rPr lang="fr-FR" sz="1050"/>
              <a:t>diagnostic </a:t>
            </a:r>
            <a:r>
              <a:rPr lang="fr-FR" sz="1050" dirty="0"/>
              <a:t>individuel </a:t>
            </a:r>
            <a:r>
              <a:rPr lang="fr-FR" sz="1050"/>
              <a:t>en ligne à J-15</a:t>
            </a:r>
            <a:r>
              <a:rPr lang="fr-FR" sz="105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fr-FR" sz="1050" dirty="0"/>
          </a:p>
        </p:txBody>
      </p:sp>
      <p:sp>
        <p:nvSpPr>
          <p:cNvPr id="67" name="Text 63"/>
          <p:cNvSpPr/>
          <p:nvPr/>
        </p:nvSpPr>
        <p:spPr>
          <a:xfrm>
            <a:off x="5074920" y="9017484"/>
            <a:ext cx="6537960" cy="799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fr-FR" sz="10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 : </a:t>
            </a:r>
            <a:r>
              <a:rPr lang="fr-FR" sz="1050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évaluation progressive à partir des productions réalisées, des exercices et des mises en situation : réorganisation d'une semaine réelle, arbitrage de priorités, analyse de tâches susceptibles de devenir critiques, décomposition d'une tâche repoussée, tri de mails et traitement de sollicitations simulées.</a:t>
            </a:r>
            <a:endParaRPr lang="fr-FR" sz="1050" dirty="0"/>
          </a:p>
        </p:txBody>
      </p:sp>
      <p:sp>
        <p:nvSpPr>
          <p:cNvPr id="68" name="Text 64"/>
          <p:cNvSpPr/>
          <p:nvPr/>
        </p:nvSpPr>
        <p:spPr>
          <a:xfrm>
            <a:off x="11841480" y="9017484"/>
            <a:ext cx="5349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fr-FR" sz="10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: </a:t>
            </a: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Évaluation à chaud en clôture de la journée J0.</a:t>
            </a:r>
            <a:endParaRPr lang="fr-FR" sz="1050" dirty="0"/>
          </a:p>
        </p:txBody>
      </p:sp>
      <p:sp>
        <p:nvSpPr>
          <p:cNvPr id="69" name="Text 65"/>
          <p:cNvSpPr/>
          <p:nvPr/>
        </p:nvSpPr>
        <p:spPr>
          <a:xfrm>
            <a:off x="1161288" y="9474684"/>
            <a:ext cx="37947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fr-FR" sz="10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à froid : </a:t>
            </a: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collectif à distance à J+30.</a:t>
            </a:r>
            <a:endParaRPr lang="fr-FR" sz="1050" dirty="0"/>
          </a:p>
        </p:txBody>
      </p:sp>
      <p:sp>
        <p:nvSpPr>
          <p:cNvPr id="70" name="Text 66"/>
          <p:cNvSpPr/>
          <p:nvPr/>
        </p:nvSpPr>
        <p:spPr>
          <a:xfrm>
            <a:off x="11841480" y="9291804"/>
            <a:ext cx="5349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5294"/>
              </a:lnSpc>
            </a:pPr>
            <a:r>
              <a:rPr lang="fr-FR" sz="10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Sanction : </a:t>
            </a:r>
            <a:r>
              <a:rPr lang="fr-FR" sz="1050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 de réalisation.</a:t>
            </a:r>
            <a:endParaRPr lang="fr-FR" sz="1050" dirty="0"/>
          </a:p>
        </p:txBody>
      </p:sp>
      <p:sp>
        <p:nvSpPr>
          <p:cNvPr id="71" name="Text 67"/>
          <p:cNvSpPr/>
          <p:nvPr/>
        </p:nvSpPr>
        <p:spPr>
          <a:xfrm>
            <a:off x="17311613" y="9962814"/>
            <a:ext cx="13818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0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fr-F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0" y="976312"/>
            <a:ext cx="88862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125" b="1" kern="0" spc="113" dirty="0">
                <a:solidFill>
                  <a:srgbClr val="A65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🍁 PROGRAMME DE FORMATION ET DE DÉVELOPPEMENT DES COMPÉTENCES PROFESSIONNELLES</a:t>
            </a:r>
            <a:endParaRPr lang="fr-FR" sz="1125" dirty="0"/>
          </a:p>
        </p:txBody>
      </p:sp>
      <p:sp>
        <p:nvSpPr>
          <p:cNvPr id="4" name="Text 2"/>
          <p:cNvSpPr/>
          <p:nvPr/>
        </p:nvSpPr>
        <p:spPr>
          <a:xfrm>
            <a:off x="914400" y="1262063"/>
            <a:ext cx="88862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8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Reprendre la main sur son organisation</a:t>
            </a:r>
            <a:endParaRPr lang="fr-FR" sz="28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282" y="571500"/>
            <a:ext cx="1115318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0" y="990600"/>
            <a:ext cx="4846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r"/>
            <a:r>
              <a:rPr lang="fr-FR" sz="120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MJPM1-IPHI-2610-v7 · Mis à jour </a:t>
            </a:r>
            <a:r>
              <a:rPr lang="fr-FR" sz="120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7 </a:t>
            </a:r>
            <a:r>
              <a:rPr lang="fr-FR" sz="120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octobre 2026</a:t>
            </a:r>
            <a:endParaRPr lang="fr-FR" sz="1125" dirty="0"/>
          </a:p>
        </p:txBody>
      </p:sp>
      <p:sp>
        <p:nvSpPr>
          <p:cNvPr id="7" name="Text 4"/>
          <p:cNvSpPr/>
          <p:nvPr/>
        </p:nvSpPr>
        <p:spPr>
          <a:xfrm>
            <a:off x="914400" y="1947863"/>
            <a:ext cx="12037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125" b="1" kern="0" spc="90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COMPÉTENCES VISÉES</a:t>
            </a:r>
            <a:endParaRPr lang="fr-FR" sz="1125" dirty="0"/>
          </a:p>
        </p:txBody>
      </p:sp>
      <p:sp>
        <p:nvSpPr>
          <p:cNvPr id="8" name="Shape 5"/>
          <p:cNvSpPr/>
          <p:nvPr/>
        </p:nvSpPr>
        <p:spPr>
          <a:xfrm>
            <a:off x="914400" y="2249424"/>
            <a:ext cx="5376672" cy="2428875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14400" y="4669155"/>
            <a:ext cx="5376672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914400" y="2249424"/>
            <a:ext cx="5376672" cy="28575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914400" y="2249424"/>
            <a:ext cx="9525" cy="242887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6281928" y="2249424"/>
            <a:ext cx="9525" cy="242887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1152144" y="2404872"/>
            <a:ext cx="4919472" cy="25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3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Réorganiser son activité pour réduire la dispersion</a:t>
            </a:r>
            <a:endParaRPr lang="fr-FR" sz="1350" dirty="0"/>
          </a:p>
        </p:txBody>
      </p:sp>
      <p:sp>
        <p:nvSpPr>
          <p:cNvPr id="14" name="Text 11"/>
          <p:cNvSpPr/>
          <p:nvPr/>
        </p:nvSpPr>
        <p:spPr>
          <a:xfrm>
            <a:off x="1152144" y="2703766"/>
            <a:ext cx="49194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59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CONTENUS ET APPLICATIONS</a:t>
            </a:r>
            <a:endParaRPr lang="fr-FR" sz="1050" dirty="0"/>
          </a:p>
        </p:txBody>
      </p:sp>
      <p:sp>
        <p:nvSpPr>
          <p:cNvPr id="15" name="Text 12"/>
          <p:cNvSpPr/>
          <p:nvPr/>
        </p:nvSpPr>
        <p:spPr>
          <a:xfrm>
            <a:off x="1234440" y="2923222"/>
            <a:ext cx="4809744" cy="166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Repérer les mécanismes de dispersion, d'interruption et de changement de tâche.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Regrouper les activités de même nature pour limiter la fragmentation.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Protéger du temps pour les tâches importantes sans rigidifier son organisation.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Réorganiser sa semaine réelle en tenant compte de ses propres contraintes.</a:t>
            </a:r>
            <a:endParaRPr lang="fr-FR" sz="1125" dirty="0"/>
          </a:p>
        </p:txBody>
      </p:sp>
      <p:sp>
        <p:nvSpPr>
          <p:cNvPr id="16" name="Shape 13"/>
          <p:cNvSpPr/>
          <p:nvPr/>
        </p:nvSpPr>
        <p:spPr>
          <a:xfrm>
            <a:off x="914400" y="4861179"/>
            <a:ext cx="5376672" cy="1832443"/>
          </a:xfrm>
          <a:prstGeom prst="roundRect">
            <a:avLst>
              <a:gd name="adj" fmla="val 519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914400" y="6684478"/>
            <a:ext cx="5376672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914400" y="4861179"/>
            <a:ext cx="5376672" cy="28575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914400" y="4861179"/>
            <a:ext cx="9525" cy="1832443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6281928" y="4861179"/>
            <a:ext cx="9525" cy="1832443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1152144" y="5016627"/>
            <a:ext cx="4919472" cy="25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3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Hiérarchiser et arbitrer ses priorités</a:t>
            </a:r>
            <a:endParaRPr lang="fr-FR" sz="1350" dirty="0"/>
          </a:p>
        </p:txBody>
      </p:sp>
      <p:sp>
        <p:nvSpPr>
          <p:cNvPr id="22" name="Text 19"/>
          <p:cNvSpPr/>
          <p:nvPr/>
        </p:nvSpPr>
        <p:spPr>
          <a:xfrm>
            <a:off x="1152144" y="5315521"/>
            <a:ext cx="49194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59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CONTENUS ET APPLICATIONS</a:t>
            </a:r>
            <a:endParaRPr lang="fr-FR" sz="1050" dirty="0"/>
          </a:p>
        </p:txBody>
      </p:sp>
      <p:sp>
        <p:nvSpPr>
          <p:cNvPr id="23" name="Text 20"/>
          <p:cNvSpPr/>
          <p:nvPr/>
        </p:nvSpPr>
        <p:spPr>
          <a:xfrm>
            <a:off x="1234440" y="5534977"/>
            <a:ext cx="4809744" cy="1067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Distinguer urgence et importance.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 d'une priorisation intuitive à des critères explicites.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Hiérarchiser un ensemble de tâches et justifier ses choix.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Arbitrer l'arrivée d'une nouvelle urgence et décider ce qui doit être déplacé ou replanifié.</a:t>
            </a:r>
            <a:endParaRPr lang="fr-FR" sz="1125" dirty="0"/>
          </a:p>
        </p:txBody>
      </p:sp>
      <p:sp>
        <p:nvSpPr>
          <p:cNvPr id="24" name="Shape 21"/>
          <p:cNvSpPr/>
          <p:nvPr/>
        </p:nvSpPr>
        <p:spPr>
          <a:xfrm>
            <a:off x="914400" y="6876502"/>
            <a:ext cx="5376672" cy="2238708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914400" y="9106066"/>
            <a:ext cx="5376672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914400" y="6876502"/>
            <a:ext cx="5376672" cy="28575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914400" y="6876502"/>
            <a:ext cx="9525" cy="2238708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281928" y="6876502"/>
            <a:ext cx="9525" cy="2238708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1152144" y="7031950"/>
            <a:ext cx="4919472" cy="460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3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Anticiper les tâches critiques et débloquer les tâches repoussées</a:t>
            </a:r>
            <a:endParaRPr lang="fr-FR" sz="1350" dirty="0"/>
          </a:p>
        </p:txBody>
      </p:sp>
      <p:sp>
        <p:nvSpPr>
          <p:cNvPr id="30" name="Text 27"/>
          <p:cNvSpPr/>
          <p:nvPr/>
        </p:nvSpPr>
        <p:spPr>
          <a:xfrm>
            <a:off x="1152144" y="7538299"/>
            <a:ext cx="49194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59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CONTENUS ET APPLICATIONS</a:t>
            </a:r>
            <a:endParaRPr lang="fr-FR" sz="1050" dirty="0"/>
          </a:p>
        </p:txBody>
      </p:sp>
      <p:sp>
        <p:nvSpPr>
          <p:cNvPr id="31" name="Text 28"/>
          <p:cNvSpPr/>
          <p:nvPr/>
        </p:nvSpPr>
        <p:spPr>
          <a:xfrm>
            <a:off x="1234440" y="7757755"/>
            <a:ext cx="4809744" cy="1266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Repérer les tâches importantes susceptibles de devenir critiques.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les facteurs de criticité : échéances, dépendances, délais incompressibles et conséquences d'un retard.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ce qui entretient le report d'une tâche.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Décomposer une tâche repoussée jusqu'à une prochaine action immédiatement réalisable.</a:t>
            </a:r>
            <a:endParaRPr lang="fr-FR" sz="1125" dirty="0"/>
          </a:p>
        </p:txBody>
      </p:sp>
      <p:sp>
        <p:nvSpPr>
          <p:cNvPr id="32" name="Shape 29"/>
          <p:cNvSpPr/>
          <p:nvPr/>
        </p:nvSpPr>
        <p:spPr>
          <a:xfrm>
            <a:off x="6483096" y="2249424"/>
            <a:ext cx="5376672" cy="2230064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483096" y="4470344"/>
            <a:ext cx="5376672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6483096" y="2249424"/>
            <a:ext cx="5376672" cy="28575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6483096" y="2249424"/>
            <a:ext cx="9525" cy="2230064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11850624" y="2249424"/>
            <a:ext cx="9525" cy="2230064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6720840" y="2404872"/>
            <a:ext cx="4919472" cy="25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3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Trier les mails selon des critères définis</a:t>
            </a:r>
            <a:endParaRPr lang="fr-FR" sz="1350" dirty="0"/>
          </a:p>
        </p:txBody>
      </p:sp>
      <p:sp>
        <p:nvSpPr>
          <p:cNvPr id="38" name="Text 35"/>
          <p:cNvSpPr/>
          <p:nvPr/>
        </p:nvSpPr>
        <p:spPr>
          <a:xfrm>
            <a:off x="6720840" y="2703766"/>
            <a:ext cx="49194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59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CONTENUS ET APPLICATIONS</a:t>
            </a:r>
            <a:endParaRPr lang="fr-FR" sz="1050" dirty="0"/>
          </a:p>
        </p:txBody>
      </p:sp>
      <p:sp>
        <p:nvSpPr>
          <p:cNvPr id="39" name="Text 36"/>
          <p:cNvSpPr/>
          <p:nvPr/>
        </p:nvSpPr>
        <p:spPr>
          <a:xfrm>
            <a:off x="6803136" y="2923222"/>
            <a:ext cx="4809744" cy="146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Distinguer la décision à prendre sur un mail de son exécution immédiate.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Affecter chaque mail à une décision : traiter, déléguer, planifier ou classer.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Appliquer des critères de tri explicites à une boîte de réception simulée.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Justifier ses choix de traitement.</a:t>
            </a:r>
            <a:endParaRPr lang="fr-FR" sz="1125" dirty="0"/>
          </a:p>
        </p:txBody>
      </p:sp>
      <p:sp>
        <p:nvSpPr>
          <p:cNvPr id="40" name="Shape 37"/>
          <p:cNvSpPr/>
          <p:nvPr/>
        </p:nvSpPr>
        <p:spPr>
          <a:xfrm>
            <a:off x="6483096" y="4662368"/>
            <a:ext cx="5376672" cy="283514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8"/>
          <p:cNvSpPr/>
          <p:nvPr/>
        </p:nvSpPr>
        <p:spPr>
          <a:xfrm>
            <a:off x="6483096" y="7488364"/>
            <a:ext cx="5376672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9"/>
          <p:cNvSpPr/>
          <p:nvPr/>
        </p:nvSpPr>
        <p:spPr>
          <a:xfrm>
            <a:off x="6483096" y="4662368"/>
            <a:ext cx="5376672" cy="28575"/>
          </a:xfrm>
          <a:prstGeom prst="rect">
            <a:avLst/>
          </a:prstGeom>
          <a:solidFill>
            <a:srgbClr val="A653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6483096" y="4662368"/>
            <a:ext cx="9525" cy="2835140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1"/>
          <p:cNvSpPr/>
          <p:nvPr/>
        </p:nvSpPr>
        <p:spPr>
          <a:xfrm>
            <a:off x="11850624" y="4662368"/>
            <a:ext cx="9525" cy="2835140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6720840" y="4817816"/>
            <a:ext cx="4919472" cy="460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13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Réguler les sollicitations et organiser la répartition des demandes</a:t>
            </a:r>
            <a:endParaRPr lang="fr-FR" sz="1350" dirty="0"/>
          </a:p>
        </p:txBody>
      </p:sp>
      <p:sp>
        <p:nvSpPr>
          <p:cNvPr id="46" name="Text 43"/>
          <p:cNvSpPr/>
          <p:nvPr/>
        </p:nvSpPr>
        <p:spPr>
          <a:xfrm>
            <a:off x="6720840" y="5324165"/>
            <a:ext cx="49194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fr-FR" sz="1050" b="1" kern="0" spc="59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CONTENUS ET APPLICATIONS</a:t>
            </a:r>
            <a:endParaRPr lang="fr-FR" sz="1050" dirty="0"/>
          </a:p>
        </p:txBody>
      </p:sp>
      <p:sp>
        <p:nvSpPr>
          <p:cNvPr id="47" name="Text 44"/>
          <p:cNvSpPr/>
          <p:nvPr/>
        </p:nvSpPr>
        <p:spPr>
          <a:xfrm>
            <a:off x="6803136" y="5543621"/>
            <a:ext cx="4809744" cy="1862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Distinguer une sollicitation d'une interruption nécessitant une réponse immédiate.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les sollicitations répétitives en règles de fonctionnement stables.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Définir des règles de traitement, de délai ou de canal.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Organiser la répartition des demandes avec un collaborateur lorsque cette situation s'applique.</a:t>
            </a:r>
            <a:endParaRPr lang="fr-FR" sz="1125" dirty="0"/>
          </a:p>
          <a:p>
            <a:pPr marL="106680" indent="-106680" algn="l">
              <a:lnSpc>
                <a:spcPct val="114999"/>
              </a:lnSpc>
              <a:buSzPct val="100000"/>
              <a:buChar char="•"/>
              <a:tabLst>
                <a:tab pos="106680" algn="l"/>
              </a:tabLst>
            </a:pPr>
            <a:r>
              <a:rPr lang="fr-FR" sz="112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en cohérence les règles retenues dans son système personnel d'organisation.</a:t>
            </a:r>
            <a:endParaRPr lang="fr-FR" sz="1125" dirty="0"/>
          </a:p>
        </p:txBody>
      </p:sp>
      <p:sp>
        <p:nvSpPr>
          <p:cNvPr id="48" name="Shape 45"/>
          <p:cNvSpPr/>
          <p:nvPr/>
        </p:nvSpPr>
        <p:spPr>
          <a:xfrm>
            <a:off x="6481316" y="7680388"/>
            <a:ext cx="5376416" cy="1434822"/>
          </a:xfrm>
          <a:prstGeom prst="roundRect">
            <a:avLst>
              <a:gd name="adj" fmla="val 6917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6728966" y="7826692"/>
            <a:ext cx="53692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dirty="0">
                <a:solidFill>
                  <a:srgbClr val="0E28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Accompagnement post-formation</a:t>
            </a:r>
            <a:endParaRPr lang="fr-FR" sz="1050" dirty="0"/>
          </a:p>
        </p:txBody>
      </p:sp>
      <p:sp>
        <p:nvSpPr>
          <p:cNvPr id="50" name="Text 47"/>
          <p:cNvSpPr/>
          <p:nvPr/>
        </p:nvSpPr>
        <p:spPr>
          <a:xfrm>
            <a:off x="6728966" y="8064436"/>
            <a:ext cx="5029200" cy="1102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7647"/>
              </a:lnSpc>
              <a:buNone/>
            </a:pPr>
            <a:r>
              <a:rPr lang="fr-FR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J0 16h30–17h00 : mise en cohérence du système personnel, séquence d'intégration et de transfert. J+1 à J+21 : expérimentation en situation de travail de quelques changements retenus. J+30 : coaching collectif à distance de 3 h pour analyser les expérimentations et consolider le transfert.</a:t>
            </a:r>
            <a:endParaRPr lang="fr-FR" sz="1050" dirty="0"/>
          </a:p>
        </p:txBody>
      </p:sp>
      <p:sp>
        <p:nvSpPr>
          <p:cNvPr id="51" name="Shape 48"/>
          <p:cNvSpPr/>
          <p:nvPr/>
        </p:nvSpPr>
        <p:spPr>
          <a:xfrm>
            <a:off x="12162532" y="1947863"/>
            <a:ext cx="5211068" cy="1510531"/>
          </a:xfrm>
          <a:prstGeom prst="roundRect">
            <a:avLst>
              <a:gd name="adj" fmla="val 11350"/>
            </a:avLst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/>
          <p:nvPr/>
        </p:nvSpPr>
        <p:spPr>
          <a:xfrm>
            <a:off x="12438757" y="2185988"/>
            <a:ext cx="51244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MODALITÉS &amp; DÉLAIS D'ACCÈS</a:t>
            </a:r>
            <a:endParaRPr lang="fr-FR" sz="1050" dirty="0"/>
          </a:p>
        </p:txBody>
      </p:sp>
      <p:sp>
        <p:nvSpPr>
          <p:cNvPr id="53" name="Text 50"/>
          <p:cNvSpPr/>
          <p:nvPr/>
        </p:nvSpPr>
        <p:spPr>
          <a:xfrm>
            <a:off x="12438757" y="2443163"/>
            <a:ext cx="4798377" cy="8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683"/>
              </a:lnSpc>
              <a:buNone/>
            </a:pPr>
            <a:r>
              <a:rPr lang="fr-FR" sz="12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Inscription après échange permettant de vérifier l'adéquation de la formation au besoin. </a:t>
            </a:r>
          </a:p>
          <a:p>
            <a:pPr marL="0" indent="0" algn="l">
              <a:lnSpc>
                <a:spcPct val="132683"/>
              </a:lnSpc>
              <a:buNone/>
            </a:pPr>
            <a:r>
              <a:rPr lang="fr-FR" sz="12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Délai d'accès : 2 mois (INTER) ; 3 semaines à 1 mois (INTRA).</a:t>
            </a:r>
            <a:endParaRPr lang="fr-FR" sz="1275" dirty="0"/>
          </a:p>
        </p:txBody>
      </p:sp>
      <p:sp>
        <p:nvSpPr>
          <p:cNvPr id="54" name="Shape 51"/>
          <p:cNvSpPr/>
          <p:nvPr/>
        </p:nvSpPr>
        <p:spPr>
          <a:xfrm>
            <a:off x="12162532" y="3648894"/>
            <a:ext cx="5211068" cy="1769566"/>
          </a:xfrm>
          <a:prstGeom prst="roundRect">
            <a:avLst>
              <a:gd name="adj" fmla="val 9689"/>
            </a:avLst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2"/>
          <p:cNvSpPr/>
          <p:nvPr/>
        </p:nvSpPr>
        <p:spPr>
          <a:xfrm>
            <a:off x="12438757" y="3887019"/>
            <a:ext cx="51244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ACCESSIBILITÉ &amp; ADAPTATIONS</a:t>
            </a:r>
            <a:endParaRPr lang="fr-FR" sz="1050" dirty="0"/>
          </a:p>
        </p:txBody>
      </p:sp>
      <p:sp>
        <p:nvSpPr>
          <p:cNvPr id="56" name="Text 53">
            <a:hlinkClick r:id="rId4"/>
          </p:cNvPr>
          <p:cNvSpPr/>
          <p:nvPr/>
        </p:nvSpPr>
        <p:spPr>
          <a:xfrm>
            <a:off x="12438757" y="4144194"/>
            <a:ext cx="4798377" cy="1074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683"/>
              </a:lnSpc>
              <a:buNone/>
            </a:pPr>
            <a:r>
              <a:rPr lang="fr-FR" sz="12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Recueil des besoins d'aménagement dès le diagnostic amont ; référent handicap identifié ; supports multimodaux, lien de connexion unique, test possible avant la session. </a:t>
            </a:r>
            <a:r>
              <a:rPr lang="fr-FR" sz="1275" u="sng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Politique handicap : iphigeni.fr/formation/</a:t>
            </a:r>
            <a:endParaRPr lang="fr-FR" sz="1275" dirty="0"/>
          </a:p>
        </p:txBody>
      </p:sp>
      <p:sp>
        <p:nvSpPr>
          <p:cNvPr id="57" name="Shape 54"/>
          <p:cNvSpPr/>
          <p:nvPr/>
        </p:nvSpPr>
        <p:spPr>
          <a:xfrm>
            <a:off x="12162532" y="5608960"/>
            <a:ext cx="5211068" cy="359219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5"/>
          <p:cNvSpPr/>
          <p:nvPr/>
        </p:nvSpPr>
        <p:spPr>
          <a:xfrm>
            <a:off x="12438757" y="5847085"/>
            <a:ext cx="51244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kern="0" spc="84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INFORMATIONS &amp; INSCRIPTIONS</a:t>
            </a:r>
            <a:endParaRPr lang="fr-FR" sz="1050" dirty="0"/>
          </a:p>
        </p:txBody>
      </p:sp>
      <p:sp>
        <p:nvSpPr>
          <p:cNvPr id="59" name="Text 56"/>
          <p:cNvSpPr/>
          <p:nvPr/>
        </p:nvSpPr>
        <p:spPr>
          <a:xfrm>
            <a:off x="12438757" y="6104260"/>
            <a:ext cx="4798377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683"/>
              </a:lnSpc>
              <a:buNone/>
            </a:pPr>
            <a:r>
              <a:rPr lang="fr-FR" sz="12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info@iphigeni.fr · 06 16 17 95 93 ou </a:t>
            </a:r>
            <a:r>
              <a:rPr lang="fr-FR" sz="1275" u="sng" dirty="0">
                <a:solidFill>
                  <a:srgbClr val="1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 de contact</a:t>
            </a:r>
            <a:endParaRPr lang="fr-FR" sz="1275" dirty="0"/>
          </a:p>
        </p:txBody>
      </p:sp>
      <p:sp>
        <p:nvSpPr>
          <p:cNvPr id="60" name="Shape 57"/>
          <p:cNvSpPr/>
          <p:nvPr/>
        </p:nvSpPr>
        <p:spPr>
          <a:xfrm>
            <a:off x="914400" y="9391650"/>
            <a:ext cx="16459200" cy="9525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8"/>
          <p:cNvSpPr/>
          <p:nvPr/>
        </p:nvSpPr>
        <p:spPr>
          <a:xfrm>
            <a:off x="914400" y="9553575"/>
            <a:ext cx="33382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iphigeni · conseil, formation &amp; accompagnement</a:t>
            </a:r>
            <a:endParaRPr lang="fr-FR" sz="1050" dirty="0"/>
          </a:p>
        </p:txBody>
      </p:sp>
      <p:sp>
        <p:nvSpPr>
          <p:cNvPr id="62" name="Text 59"/>
          <p:cNvSpPr/>
          <p:nvPr/>
        </p:nvSpPr>
        <p:spPr>
          <a:xfrm>
            <a:off x="17292265" y="9553575"/>
            <a:ext cx="1575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dirty="0">
                <a:solidFill>
                  <a:srgbClr val="5F5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fr-FR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A65300"/>
      </a:accent2>
      <a:accent3>
        <a:srgbClr val="666666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A6530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1045</Words>
  <Application>Microsoft Office PowerPoint</Application>
  <PresentationFormat>Personnalisé</PresentationFormat>
  <Paragraphs>108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Inter</vt:lpstr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Pierre-François ITEL</cp:lastModifiedBy>
  <cp:revision>2</cp:revision>
  <dcterms:created xsi:type="dcterms:W3CDTF">2026-08-20T13:12:19Z</dcterms:created>
  <dcterms:modified xsi:type="dcterms:W3CDTF">2026-10-07T07:03:16Z</dcterms:modified>
</cp:coreProperties>
</file>